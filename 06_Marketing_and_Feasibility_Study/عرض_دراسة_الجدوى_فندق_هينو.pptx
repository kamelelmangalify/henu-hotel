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229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DAA85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فندق هينو الأهرامات — HENU HOTEL PYRAMIDS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10332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دراسة الجدوى الاقتصادية</a:t>
            </a:r>
            <a:endParaRPr lang="en-US" sz="3400" dirty="0"/>
          </a:p>
          <a:p>
            <a:pPr algn="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والخطة التسويقية الإستراتيجية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310896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F7F2E8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نموذج الحجز المباشر vs عمولات OTAs ومقارنة إعلانات Google Maps مع منصات التواصل Meta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14400" y="4114800"/>
            <a:ext cx="2468880" cy="1737360"/>
          </a:xfrm>
          <a:prstGeom prst="roundRect">
            <a:avLst>
              <a:gd name="adj" fmla="val 7895"/>
            </a:avLst>
          </a:prstGeom>
          <a:solidFill>
            <a:srgbClr val="14263B"/>
          </a:solidFill>
          <a:ln w="19050">
            <a:solidFill>
              <a:srgbClr val="C987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2976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AA85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$15 - $25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" y="48463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متوسط سعر الليلة (ADR)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(750 جـ - 1,250 جـ)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547872" y="4114800"/>
            <a:ext cx="2468880" cy="1737360"/>
          </a:xfrm>
          <a:prstGeom prst="roundRect">
            <a:avLst>
              <a:gd name="adj" fmla="val 7895"/>
            </a:avLst>
          </a:prstGeom>
          <a:solidFill>
            <a:srgbClr val="14263B"/>
          </a:solidFill>
          <a:ln w="19050">
            <a:solidFill>
              <a:srgbClr val="C987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47872" y="42976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AA85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+225,963 جـ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639312" y="48463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أقصى وفر شهري متوقع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في ذروة الموسم المرتفع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81344" y="4114800"/>
            <a:ext cx="2468880" cy="1737360"/>
          </a:xfrm>
          <a:prstGeom prst="roundRect">
            <a:avLst>
              <a:gd name="adj" fmla="val 7895"/>
            </a:avLst>
          </a:prstGeom>
          <a:solidFill>
            <a:srgbClr val="14263B"/>
          </a:solidFill>
          <a:ln w="19050">
            <a:solidFill>
              <a:srgbClr val="C987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81344" y="42976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AA85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&lt; 4 أيام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272784" y="48463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فترة استرداد تكلفة الموقع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(استثمار 25k جـ)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814816" y="4114800"/>
            <a:ext cx="2468880" cy="1737360"/>
          </a:xfrm>
          <a:prstGeom prst="roundRect">
            <a:avLst>
              <a:gd name="adj" fmla="val 7895"/>
            </a:avLst>
          </a:prstGeom>
          <a:solidFill>
            <a:srgbClr val="14263B"/>
          </a:solidFill>
          <a:ln w="19050">
            <a:solidFill>
              <a:srgbClr val="C987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14816" y="42976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AA85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35%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906256" y="48463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عمولات OTAs المهدرة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تستنزف ثلث الإيرادات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011680" cy="320040"/>
          </a:xfrm>
          <a:prstGeom prst="roundRect">
            <a:avLst>
              <a:gd name="adj" fmla="val 28571"/>
            </a:avLst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AA85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نظرة عامة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B1B2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الملخص التنفيذي: أهداف الدراسة والفرصة الاستثمارية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تحويل فندق هينو الأهرامات من الاعتماد الكلي على الوسطاء إلى نموذج الحجز المباشر المربح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828800"/>
            <a:ext cx="3474720" cy="438912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25400">
            <a:solidFill>
              <a:srgbClr val="E11D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1031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📉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914400" y="27432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B2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تحدي العمولات المرتفعة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3291840"/>
            <a:ext cx="29260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منصات Booking و Agoda تقتطع عمولات تصل إلى 35% من قيمة كل حجز، مما يقلص الأرباح التشغيلية بشكل حاد ويحرم الفندق من بناء قاعدة نزلاء مباشرة.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43400" y="1828800"/>
            <a:ext cx="3474720" cy="438912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25400">
            <a:solidFill>
              <a:srgbClr val="C987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3400" y="21031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🌐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526280" y="27432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B2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حل الحجز المباشر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17720" y="3291840"/>
            <a:ext cx="29260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امتلاك محرك حجز مباشر وموقع متعدد اللغات والعملات يتيح للنزيل الحجز فوراً بدون وسيط، مما يوفر حتى 225,963 جـ شهرياً من العمولات.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955280" y="1828800"/>
            <a:ext cx="3474720" cy="438912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55280" y="21031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📍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8138160" y="27432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B2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التسويق الذكي عبر خرائط جوجل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0" y="3291840"/>
            <a:ext cx="29260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تركيز الإنفاق الإعلاني على Google Maps Local Ads لاستهداف السياح المتواجدين بالفعل عند الأهرامات، لتحقيق عائد إعلاني يصل إلى 1 : 60.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011680" cy="320040"/>
          </a:xfrm>
          <a:prstGeom prst="roundRect">
            <a:avLst>
              <a:gd name="adj" fmla="val 28571"/>
            </a:avLst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AA85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تحليل التحدي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B1B2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أين تذهب أموال الفندق؟ تحليل نزيف عمولات الـ OTAs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كيف تلتهم منصات الحجز ثلث الإيراد الكلي لفندق هينو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0" y="1828800"/>
            <a:ext cx="5212080" cy="438912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25400">
            <a:solidFill>
              <a:srgbClr val="E11D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20116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11D48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⚠️ التكلفة الخفية للوسطاء (OTAs)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256032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• عمولة تصل إلى 35% تقتطع فورياً من كل غرفة يتم بيعها.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92240" y="342900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• في الموسم المرتفع، يخسر الفندق أكثر من 278,000 جـ شهرياً كعمولات.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92240" y="429768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• حجب بيانات النزيل الحقيقية وعدم إمكانية إعادة استهدافه مستقبلاً.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92240" y="516636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• تحكم المنصات الخارجية في شروط الإلغاء وسياسات التسعير.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1520" y="1828800"/>
            <a:ext cx="5212080" cy="438912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0116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📊 توزيع الإيراد التقليدي عبر OTAs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005840" y="2560320"/>
            <a:ext cx="4663440" cy="1463040"/>
          </a:xfrm>
          <a:prstGeom prst="roundRect">
            <a:avLst>
              <a:gd name="adj" fmla="val 6250"/>
            </a:avLst>
          </a:prstGeom>
          <a:solidFill>
            <a:srgbClr val="FEE2E2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27432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11D48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35% عمولات مهدرة للمنصات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320040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تصل إلى 278,906 جـ شهرياً تخرج خارج حسابات الفندق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05840" y="4206240"/>
            <a:ext cx="4663440" cy="1737360"/>
          </a:xfrm>
          <a:prstGeom prst="roundRect">
            <a:avLst>
              <a:gd name="adj" fmla="val 5263"/>
            </a:avLst>
          </a:prstGeom>
          <a:solidFill>
            <a:srgbClr val="F7F2E8"/>
          </a:solidFill>
          <a:ln w="12700">
            <a:solidFill>
              <a:srgbClr val="C987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43891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65% المتبقي لتغطية المصاريف والأرباح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97280" y="484632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يتحمل منها الفندق: التشغيل، الصيانة، الرواتب، والكهرباء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011680" cy="320040"/>
          </a:xfrm>
          <a:prstGeom prst="roundRect">
            <a:avLst>
              <a:gd name="adj" fmla="val 28571"/>
            </a:avLst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AA85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البيانات الأساسية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B1B2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السعة التشغيلية وهيكل أسعار الغرف المعتمد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حساب الطاقة الاستيعابية الشهرية للفندق وتصنيفات الغرف المعتمدة للدراسة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828800"/>
            <a:ext cx="34747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87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9202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3A5C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25 غرفة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2377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إجمالي طاقة الفندق الاستيعابية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697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4 أدوار + روف بإطلالة الأهرامات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43400" y="1828800"/>
            <a:ext cx="34747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87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3400" y="19202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3A5C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750 ليلة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343400" y="2377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السعة المتاحة شهرياً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343400" y="2697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25 غرفة × 30 يوم تشغيلي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955280" y="1828800"/>
            <a:ext cx="34747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87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55280" y="19202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3A5C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$15 - $25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955280" y="2377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متوسط سعر الليلة (ADR)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955280" y="2697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750 جـ (منخفض) / 1,250 جـ (مرتفع)</a:t>
            </a:r>
            <a:endParaRPr lang="en-US" sz="9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474720"/>
          <a:ext cx="10698480" cy="2560320"/>
        </p:xfrm>
        <a:graphic>
          <a:graphicData uri="http://schemas.openxmlformats.org/drawingml/2006/table">
            <a:tbl>
              <a:tblPr/>
              <a:tblGrid>
                <a:gridCol w="2139696"/>
                <a:gridCol w="2139696"/>
                <a:gridCol w="2139696"/>
                <a:gridCol w="2139696"/>
                <a:gridCol w="2139696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فئة الغرفة</a:t>
                      </a:r>
                      <a:endParaRPr lang="en-US" sz="10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Standard (عادية)</a:t>
                      </a:r>
                      <a:endParaRPr lang="en-US" sz="10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With Window (بنافذة)</a:t>
                      </a:r>
                      <a:endParaRPr lang="en-US" sz="10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With Balcony (ببلكونة)</a:t>
                      </a:r>
                      <a:endParaRPr lang="en-US" sz="10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King Suite (سويت أهرامات)</a:t>
                      </a:r>
                      <a:endParaRPr lang="en-US" sz="10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873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Single Room (مفردة)</a:t>
                      </a:r>
                      <a:endParaRPr lang="en-US" sz="10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$12 (600 جـ)</a:t>
                      </a:r>
                      <a:endParaRPr lang="en-US" sz="10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$15 (750 جـ)</a:t>
                      </a:r>
                      <a:endParaRPr lang="en-US" sz="10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$20 (1,000 جـ)</a:t>
                      </a:r>
                      <a:endParaRPr lang="en-US" sz="10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—</a:t>
                      </a:r>
                      <a:endParaRPr lang="en-US" sz="10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Double Room (مزدوجة)</a:t>
                      </a:r>
                      <a:endParaRPr lang="en-US" sz="10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$18 (900 جـ)</a:t>
                      </a:r>
                      <a:endParaRPr lang="en-US" sz="10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$22 (1,100 جـ)</a:t>
                      </a:r>
                      <a:endParaRPr lang="en-US" sz="10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$25 (1,250 جـ)</a:t>
                      </a:r>
                      <a:endParaRPr lang="en-US" sz="10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—</a:t>
                      </a:r>
                      <a:endParaRPr lang="en-US" sz="10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Triple / Family (ثلاثية)</a:t>
                      </a:r>
                      <a:endParaRPr lang="en-US" sz="10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$25 (1,250 جـ)</a:t>
                      </a:r>
                      <a:endParaRPr lang="en-US" sz="10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$30 (1,500 جـ)</a:t>
                      </a:r>
                      <a:endParaRPr lang="en-US" sz="10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$35 (1,750 جـ)</a:t>
                      </a:r>
                      <a:endParaRPr lang="en-US" sz="10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—</a:t>
                      </a:r>
                      <a:endParaRPr lang="en-US" sz="10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Suite Pyramids View</a:t>
                      </a:r>
                      <a:endParaRPr lang="en-US" sz="10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—</a:t>
                      </a:r>
                      <a:endParaRPr lang="en-US" sz="10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—</a:t>
                      </a:r>
                      <a:endParaRPr lang="en-US" sz="10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—</a:t>
                      </a:r>
                      <a:endParaRPr lang="en-US" sz="10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9873A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$45 (2,250 جـ)</a:t>
                      </a:r>
                      <a:endParaRPr lang="en-US" sz="10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011680" cy="320040"/>
          </a:xfrm>
          <a:prstGeom prst="roundRect">
            <a:avLst>
              <a:gd name="adj" fmla="val 28571"/>
            </a:avLst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AA85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الجدوى المالية (1/2)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B1B2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الموسم المنخفض (Low Season): تحليل الإيرادات والوفر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متوسط سعر الليلة ADR = 15$ (750 جـ) — مقارنة سيناريو إشغال 50% وإشغال 70%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28800"/>
          <a:ext cx="10698480" cy="3840480"/>
        </p:xfrm>
        <a:graphic>
          <a:graphicData uri="http://schemas.openxmlformats.org/drawingml/2006/table">
            <a:tbl>
              <a:tblPr/>
              <a:tblGrid>
                <a:gridCol w="3566160"/>
                <a:gridCol w="3566160"/>
                <a:gridCol w="3566160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المؤشر المالي</a:t>
                      </a:r>
                      <a:endParaRPr lang="en-US" sz="11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سيناريو إشغال 50% (375 ليلة)</a:t>
                      </a:r>
                      <a:endParaRPr lang="en-US" sz="11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سيناريو إشغال 70% (525 ليلة)</a:t>
                      </a:r>
                      <a:endParaRPr lang="en-US" sz="11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إجمالي الإيراد الشهري</a:t>
                      </a:r>
                      <a:endParaRPr lang="en-US" sz="11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281,250 جنيه</a:t>
                      </a:r>
                      <a:endParaRPr lang="en-US" sz="11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393,750 جنيه</a:t>
                      </a:r>
                      <a:endParaRPr lang="en-US" sz="11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11D48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عمولات OTAs المهدرة (35%)</a:t>
                      </a:r>
                      <a:endParaRPr lang="en-US" sz="11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11D48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98,437 جنيه</a:t>
                      </a:r>
                      <a:endParaRPr lang="en-US" sz="11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11D48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137,812 جنيه</a:t>
                      </a:r>
                      <a:endParaRPr lang="en-US" sz="11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تكلفة إعلانات جوجل + موقع الحجز</a:t>
                      </a:r>
                      <a:endParaRPr lang="en-US" sz="11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17,083 جنيه</a:t>
                      </a:r>
                      <a:endParaRPr lang="en-US" sz="11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17,083 جنيه</a:t>
                      </a:r>
                      <a:endParaRPr lang="en-US" sz="11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عمولة القنوات المساندة Agoda (30%)</a:t>
                      </a:r>
                      <a:endParaRPr lang="en-US" sz="11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12,656 جنيه</a:t>
                      </a:r>
                      <a:endParaRPr lang="en-US" sz="11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17,718 جنيه</a:t>
                      </a:r>
                      <a:endParaRPr lang="en-US" sz="11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صافي الوفر الشهري المحقق للفندق</a:t>
                      </a:r>
                      <a:endParaRPr lang="en-US" sz="11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0B981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+ 68,698 جنيه / شهرياً</a:t>
                      </a:r>
                      <a:endParaRPr lang="en-US" sz="13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0B981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+ 103,010 جنيه / شهرياً</a:t>
                      </a:r>
                      <a:endParaRPr lang="en-US" sz="13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0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731520" y="58521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B3A5C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💡 حتى في أسوأ فترات الموسم المنخفض (إشغال 50%)، يحقق الفندق وفراً صافياً يتجاوز 68 ألف جنيه شهرياً في حسابه!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011680" cy="320040"/>
          </a:xfrm>
          <a:prstGeom prst="roundRect">
            <a:avLst>
              <a:gd name="adj" fmla="val 28571"/>
            </a:avLst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AA85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الجدوى المالية (2/2)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B1B2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الموسم المرتفع (High Season): أقصى عائد مالي وربحية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متوسط سعر الليلة ADR = 25$ (1,250 جـ) — مقارنة سيناريو إشغال 70% وذروة الإشغال 85%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28800"/>
          <a:ext cx="10698480" cy="3840480"/>
        </p:xfrm>
        <a:graphic>
          <a:graphicData uri="http://schemas.openxmlformats.org/drawingml/2006/table">
            <a:tbl>
              <a:tblPr/>
              <a:tblGrid>
                <a:gridCol w="3566160"/>
                <a:gridCol w="3566160"/>
                <a:gridCol w="3566160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المؤشر المالي</a:t>
                      </a:r>
                      <a:endParaRPr lang="en-US" sz="11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سيناريو إشغال 70% (525 ليلة)</a:t>
                      </a:r>
                      <a:endParaRPr lang="en-US" sz="11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ذروة الموسم 85% (637 ليلة)</a:t>
                      </a:r>
                      <a:endParaRPr lang="en-US" sz="11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87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إجمالي الإيراد الشهري</a:t>
                      </a:r>
                      <a:endParaRPr lang="en-US" sz="11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656,250 جنيه</a:t>
                      </a:r>
                      <a:endParaRPr lang="en-US" sz="11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796,875 جنيه</a:t>
                      </a:r>
                      <a:endParaRPr lang="en-US" sz="11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11D48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عمولات OTAs المهدرة (35%)</a:t>
                      </a:r>
                      <a:endParaRPr lang="en-US" sz="11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11D48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229,687 جنيه</a:t>
                      </a:r>
                      <a:endParaRPr lang="en-US" sz="11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11D48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278,906 جنيه</a:t>
                      </a:r>
                      <a:endParaRPr lang="en-US" sz="11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تكلفة إعلانات جوجل + موقع الحجز</a:t>
                      </a:r>
                      <a:endParaRPr lang="en-US" sz="11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17,083 جنيه</a:t>
                      </a:r>
                      <a:endParaRPr lang="en-US" sz="11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17,083 جنيه</a:t>
                      </a:r>
                      <a:endParaRPr lang="en-US" sz="11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عمولة القنوات المساندة Agoda (30%)</a:t>
                      </a:r>
                      <a:endParaRPr lang="en-US" sz="11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29,531 جنيه</a:t>
                      </a:r>
                      <a:endParaRPr lang="en-US" sz="11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35,859 جنيه</a:t>
                      </a:r>
                      <a:endParaRPr lang="en-US" sz="11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صافي الوفر الشهري المحقق للفندق</a:t>
                      </a:r>
                      <a:endParaRPr lang="en-US" sz="11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0B981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+ 183,073 جنيه / شهرياً</a:t>
                      </a:r>
                      <a:endParaRPr lang="en-US" sz="13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0B981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+ 225,963 جنيه / شهرياً</a:t>
                      </a:r>
                      <a:endParaRPr lang="en-US" sz="14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0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731520" y="58521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0B98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🚀 في ذروة الموسم السياحي (إشغال 85%)، يسترد الفندق أكثر من 225,000 جنيه شهرياً كانت تذهب كعمولات لـ Booking!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011680" cy="320040"/>
          </a:xfrm>
          <a:prstGeom prst="roundRect">
            <a:avLst>
              <a:gd name="adj" fmla="val 28571"/>
            </a:avLst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AA85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استرداد الاستثمار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B1B2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تحليل فترة استرداد تكلفة موقع الحجز (CapEx Payback)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كيف يسترد الفندق تكلفة تطوير النظام البالغة 25,000 جنيه في أيام معدودة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828800"/>
            <a:ext cx="3474720" cy="438912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25400">
            <a:solidFill>
              <a:srgbClr val="1B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2103120"/>
            <a:ext cx="2926080" cy="365760"/>
          </a:xfrm>
          <a:prstGeom prst="roundRect">
            <a:avLst>
              <a:gd name="adj" fmla="val 20000"/>
            </a:avLst>
          </a:prstGeom>
          <a:solidFill>
            <a:srgbClr val="1B3A5C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1031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اليوم 1 - 3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27432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B2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إطلاق وتشغيل الموقع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32918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873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25,000 جـ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05840" y="4023360"/>
            <a:ext cx="29260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تكلفة استثمارية رأسمالية تدفع لمرة واحدة لإنشاء وتدشين الموقع متعدد اللغات ومحرك الحجز المباشر.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43400" y="1828800"/>
            <a:ext cx="3474720" cy="438912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25400">
            <a:solidFill>
              <a:srgbClr val="C987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7720" y="2103120"/>
            <a:ext cx="2926080" cy="365760"/>
          </a:xfrm>
          <a:prstGeom prst="roundRect">
            <a:avLst>
              <a:gd name="adj" fmla="val 20000"/>
            </a:avLst>
          </a:prstGeom>
          <a:solidFill>
            <a:srgbClr val="C9873A"/>
          </a:solidFill>
          <a:ln/>
        </p:spPr>
      </p:sp>
      <p:sp>
        <p:nvSpPr>
          <p:cNvPr id="15" name="Text 13"/>
          <p:cNvSpPr/>
          <p:nvPr/>
        </p:nvSpPr>
        <p:spPr>
          <a:xfrm>
            <a:off x="4617720" y="21031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اليوم 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26280" y="27432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B2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نقطة التعادل (Break-even)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26280" y="32918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873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100% استرداد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617720" y="4023360"/>
            <a:ext cx="29260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من خلال حجز أول 15-20 ليلة مباشرة عبر الموقع وتوفير عمولة الـ 35%، يتم تغطية كامل تكلفة الموقع.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955280" y="1828800"/>
            <a:ext cx="3474720" cy="438912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2103120"/>
            <a:ext cx="2926080" cy="36576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0" y="21031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ما بعد اليوم 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138160" y="27432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B2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أرباح صافية مستمرة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138160" y="32918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+68k إلى +225k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229600" y="4023360"/>
            <a:ext cx="29260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كل ليلة إضافية يتم حجزها تمثل وفراً مالياً وأرباحاً صافية تتدفق مباشرة لخزينة الفندق شهرياً.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011680" cy="320040"/>
          </a:xfrm>
          <a:prstGeom prst="roundRect">
            <a:avLst>
              <a:gd name="adj" fmla="val 28571"/>
            </a:avLst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AA85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المقارنة التسويقية (1/2)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B1B2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نية الحجز ومعدل التحويل: Google Maps vs Meta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لماذا تتفوق خرائط جوجل باكتساح على فيسبوك وإنستجرام كقناة حجز فندقي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0" y="1828800"/>
            <a:ext cx="5212080" cy="438912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20116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📍 إعلانات خرائط جوجل (Google Maps Ads)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92240" y="2560320"/>
            <a:ext cx="4663440" cy="1463040"/>
          </a:xfrm>
          <a:prstGeom prst="roundRect">
            <a:avLst>
              <a:gd name="adj" fmla="val 6250"/>
            </a:avLst>
          </a:prstGeom>
          <a:solidFill>
            <a:srgbClr val="E6F7F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26517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95% نية حجز فورية (Active Search)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83680" y="310896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السائح يقف بالفعل عند الأهرامات ويبحث في هاتفه عن غرفة للمبيت الليلة.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92240" y="4206240"/>
            <a:ext cx="4663440" cy="1737360"/>
          </a:xfrm>
          <a:prstGeom prst="roundRect">
            <a:avLst>
              <a:gd name="adj" fmla="val 5263"/>
            </a:avLst>
          </a:prstGeom>
          <a:solidFill>
            <a:srgbClr val="E6F7F0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42976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12.5% معدل تحويل النقرة لحجز (CVR)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83680" y="4754880"/>
            <a:ext cx="4480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كل 100 نقرة إعلانية على خريطة جوجل تترجم إلى 12 حجز مؤكد ومباشر.</a:t>
            </a:r>
            <a:endParaRPr lang="en-US" sz="1050" dirty="0"/>
          </a:p>
          <a:p>
            <a:pPr algn="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معدل تحويل أعلى بـ 31 ضعفاً من Meta!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1520" y="1828800"/>
            <a:ext cx="5212080" cy="438912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9050">
            <a:solidFill>
              <a:srgbClr val="E11D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0116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11D48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📱 فيسبوك وإنستجرام (Meta Platforms)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005840" y="2560320"/>
            <a:ext cx="4663440" cy="1463040"/>
          </a:xfrm>
          <a:prstGeom prst="roundRect">
            <a:avLst>
              <a:gd name="adj" fmla="val 6250"/>
            </a:avLst>
          </a:prstGeom>
          <a:solidFill>
            <a:srgbClr val="FEE2E2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26517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11D48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10% نية حجز ضعيفة (Passive Browsing)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310896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مستخدم يتصفح للتسلية وتضييع الوقت بدون أي نية سفر أو حجز حقيقي.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005840" y="4206240"/>
            <a:ext cx="4663440" cy="1737360"/>
          </a:xfrm>
          <a:prstGeom prst="roundRect">
            <a:avLst>
              <a:gd name="adj" fmla="val 5263"/>
            </a:avLst>
          </a:prstGeom>
          <a:solidFill>
            <a:srgbClr val="FEE2E2"/>
          </a:solidFill>
          <a:ln/>
        </p:spPr>
      </p:sp>
      <p:sp>
        <p:nvSpPr>
          <p:cNvPr id="21" name="Text 19"/>
          <p:cNvSpPr/>
          <p:nvPr/>
        </p:nvSpPr>
        <p:spPr>
          <a:xfrm>
            <a:off x="1097280" y="42976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11D48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0.4% معدل تحويل ضعيف جداً (CVR)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4754880"/>
            <a:ext cx="4480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تحتاج إلى 1000 نقرة إعلانية لتحصل على 4 حجوزات فقط بسبب كثرة الرسائل غير الجادة.</a:t>
            </a:r>
            <a:endParaRPr lang="en-US" sz="1050" dirty="0"/>
          </a:p>
          <a:p>
            <a:pPr algn="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هدر إعلاني كبير في الميزانية!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011680" cy="320040"/>
          </a:xfrm>
          <a:prstGeom prst="roundRect">
            <a:avLst>
              <a:gd name="adj" fmla="val 28571"/>
            </a:avLst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AA85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المقارنة التسويقية (2/2)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B1B2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تكلفة الاستحواذ والعائد الإعلاني: CAC &amp; ROAS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المقارنة المالية الدقيقة بين كفاءة إنفاق إعلانات جوجل مقابل السوشيال ميديا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28800"/>
          <a:ext cx="10698480" cy="4389120"/>
        </p:xfrm>
        <a:graphic>
          <a:graphicData uri="http://schemas.openxmlformats.org/drawingml/2006/table">
            <a:tbl>
              <a:tblPr/>
              <a:tblGrid>
                <a:gridCol w="2674620"/>
                <a:gridCol w="2674620"/>
                <a:gridCol w="2674620"/>
                <a:gridCol w="2674620"/>
              </a:tblGrid>
              <a:tr h="8778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معيار الكفاءة الإعلانية</a:t>
                      </a:r>
                      <a:endParaRPr lang="en-US" sz="10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إعلانات خرائط جوجل (Google Maps)</a:t>
                      </a:r>
                      <a:endParaRPr lang="en-US" sz="10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فيسبوك وإنستجرام (Meta Platforms)</a:t>
                      </a:r>
                      <a:endParaRPr lang="en-US" sz="10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1D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الفارق الإستراتيجي</a:t>
                      </a:r>
                      <a:endParaRPr lang="en-US" sz="10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873A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تكلفة الاستحواذ على النزيل (CAC)</a:t>
                      </a:r>
                      <a:endParaRPr lang="en-US" sz="10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~45 جنيه مصري</a:t>
                      </a:r>
                      <a:endParaRPr lang="en-US" sz="10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(دفع مقابل نقرة السائح الفعلي فقط)</a:t>
                      </a:r>
                      <a:endParaRPr lang="en-US" sz="10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~380 جنيه مصري</a:t>
                      </a:r>
                      <a:endParaRPr lang="en-US" sz="10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(هدر على غير المهتمين بالسفر)</a:t>
                      </a:r>
                      <a:endParaRPr lang="en-US" sz="10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توفير 88% من تكلفة اجتذاب النزيل</a:t>
                      </a:r>
                      <a:endParaRPr lang="en-US" sz="10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ميزانية إنتاج المحتوى والفيديوهات</a:t>
                      </a:r>
                      <a:endParaRPr lang="en-US" sz="10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0 جنيه (مجاناً)</a:t>
                      </a:r>
                      <a:endParaRPr lang="en-US" sz="10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(صور الفندق الواقعية وتقييمات النزلاء)</a:t>
                      </a:r>
                      <a:endParaRPr lang="en-US" sz="10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~15,000 جنيه / شهرياً</a:t>
                      </a:r>
                      <a:endParaRPr lang="en-US" sz="10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(مصورين، ريلز، وتعديل فيديوهات)</a:t>
                      </a:r>
                      <a:endParaRPr lang="en-US" sz="10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توفير 15 ألف جنيه شهرياً بالكامل</a:t>
                      </a:r>
                      <a:endParaRPr lang="en-US" sz="10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نسبة الرسائل غير الجادة ("بكام؟")</a:t>
                      </a:r>
                      <a:endParaRPr lang="en-US" sz="10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أقل من 5%</a:t>
                      </a:r>
                      <a:endParaRPr lang="en-US" sz="10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(دخول مباشر لمحرك الحجز والدفع)</a:t>
                      </a:r>
                      <a:endParaRPr lang="en-US" sz="10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أكثر من 85%</a:t>
                      </a:r>
                      <a:endParaRPr lang="en-US" sz="10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(استنزاف وقت الاستقبال بلا جدوى)</a:t>
                      </a:r>
                      <a:endParaRPr lang="en-US" sz="10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توجيه فوري للدفع الإلكتروني</a:t>
                      </a:r>
                      <a:endParaRPr lang="en-US" sz="10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العائد على الإنفاق الإعلاني (ROAS)</a:t>
                      </a:r>
                      <a:endParaRPr lang="en-US" sz="10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1 : 60</a:t>
                      </a:r>
                      <a:endParaRPr lang="en-US" sz="10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(كل 1k تنفق تحقق 60k إيراد)</a:t>
                      </a:r>
                      <a:endParaRPr lang="en-US" sz="10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11D48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1 : 3</a:t>
                      </a:r>
                      <a:endParaRPr lang="en-US" sz="10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11D48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(كل 1k تحقق 3k فقط)</a:t>
                      </a:r>
                      <a:endParaRPr lang="en-US" sz="10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كفاءة استثمارية أعلى بـ 20 ضعفاً</a:t>
                      </a:r>
                      <a:endParaRPr lang="en-US" sz="10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011680" cy="320040"/>
          </a:xfrm>
          <a:prstGeom prst="roundRect">
            <a:avLst>
              <a:gd name="adj" fmla="val 28571"/>
            </a:avLst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AA85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مسار العميل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B1B2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إنفوجراف قمع التحويل: مقارنة رحلة النزيل (Funnel)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كيف يتحول السائح من مجرد باحث إلى حجز مؤكد ومسدد بالكامل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0" y="1828800"/>
            <a:ext cx="5212080" cy="438912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20116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📍 قمع جوجل ماب (Google Maps Funnel) — مسار مباشر وسريع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92240" y="2514600"/>
            <a:ext cx="4663440" cy="685800"/>
          </a:xfrm>
          <a:prstGeom prst="roundRect">
            <a:avLst>
              <a:gd name="adj" fmla="val 1333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260604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1. بحث مباشر: سائح يبحث عن "Pyramids View Hotel"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92240" y="3383280"/>
            <a:ext cx="4663440" cy="685800"/>
          </a:xfrm>
          <a:prstGeom prst="roundRect">
            <a:avLst>
              <a:gd name="adj" fmla="val 1333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347472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2. ظهور الفندق: ظهور إعلان الفندق أعلى الخريطة في الهرم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92240" y="4251960"/>
            <a:ext cx="4663440" cy="685800"/>
          </a:xfrm>
          <a:prstGeom prst="roundRect">
            <a:avLst>
              <a:gd name="adj" fmla="val 1333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434340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3. النقرة والموقع: التوجيه المباشر لموقع الحجز الفندقي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92240" y="5120640"/>
            <a:ext cx="4663440" cy="685800"/>
          </a:xfrm>
          <a:prstGeom prst="roundRect">
            <a:avLst>
              <a:gd name="adj" fmla="val 1333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521208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4. النتيجة: حجز ودفع إلكتروني مباشر (0% عمولة) 🎉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1828800"/>
            <a:ext cx="5212080" cy="438912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9050">
            <a:solidFill>
              <a:srgbClr val="E11D4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20116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11D48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📱 قمع السوشيال ميديا (Meta Funnel) — مسار معقد وفاقد عالي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05840" y="2514600"/>
            <a:ext cx="4663440" cy="685800"/>
          </a:xfrm>
          <a:prstGeom prst="roundRect">
            <a:avLst>
              <a:gd name="adj" fmla="val 13333"/>
            </a:avLst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260604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1. مشاهدة عابرة: مستخدم يشاهد فيديو Reel أثناء التصفح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05840" y="3383280"/>
            <a:ext cx="4663440" cy="685800"/>
          </a:xfrm>
          <a:prstGeom prst="roundRect">
            <a:avLst>
              <a:gd name="adj" fmla="val 13333"/>
            </a:avLst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347472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2. إرسال رسالة: إرسال سؤال تقليدي "بكام الليلة؟"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005840" y="4251960"/>
            <a:ext cx="4663440" cy="685800"/>
          </a:xfrm>
          <a:prstGeom prst="roundRect">
            <a:avLst>
              <a:gd name="adj" fmla="val 13333"/>
            </a:avLst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97280" y="434340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3. المتابعة: انتظار رد الاستقبال وضياع وقت الموظفين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005840" y="5120640"/>
            <a:ext cx="4663440" cy="685800"/>
          </a:xfrm>
          <a:prstGeom prst="roundRect">
            <a:avLst>
              <a:gd name="adj" fmla="val 13333"/>
            </a:avLst>
          </a:prstGeom>
          <a:solidFill>
            <a:srgbClr val="FEE2E2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97280" y="521208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91B1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4. النتيجة: تجاهل أو حجز غير مؤكد (تسرب النزلاء) ⚠️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011680" cy="320040"/>
          </a:xfrm>
          <a:prstGeom prst="roundRect">
            <a:avLst>
              <a:gd name="adj" fmla="val 28571"/>
            </a:avLst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AA85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الخطة التسويقية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B1B2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توزيع الميزانية الإعلانية ومزيج القنوات المستهدف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التوزيع الأمثل لميزانية التسويق وقنوات البيع لتحقيق أعلى ربحية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0" y="1828800"/>
            <a:ext cx="5212080" cy="438912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25400">
            <a:solidFill>
              <a:srgbClr val="C987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20116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🎯 تخصيص الميزانية الإعلانية (15,000 جـ/شهر)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92240" y="2560320"/>
            <a:ext cx="4663440" cy="1645920"/>
          </a:xfrm>
          <a:prstGeom prst="roundRect">
            <a:avLst>
              <a:gd name="adj" fmla="val 5556"/>
            </a:avLst>
          </a:prstGeom>
          <a:solidFill>
            <a:srgbClr val="E6F7F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27432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0B98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100% إعلانات Google Maps Local Search Ads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583680" y="320040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الميزانية: 15,000 جـ شهرياً (500 جـ / يومياً)</a:t>
            </a:r>
            <a:endParaRPr lang="en-US" sz="1050" dirty="0"/>
          </a:p>
          <a:p>
            <a:pPr algn="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الهدف: ظهور الفندق كأول نتيجة على خريطة الهرم لجميع السياح الباحثين عن إقامة فورية.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92240" y="4389120"/>
            <a:ext cx="4663440" cy="1554480"/>
          </a:xfrm>
          <a:prstGeom prst="roundRect">
            <a:avLst>
              <a:gd name="adj" fmla="val 5882"/>
            </a:avLst>
          </a:prstGeom>
          <a:solidFill>
            <a:srgbClr val="FEE2E2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45720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E11D48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0% إعلانات فيسبوك وإنستجرام (Meta)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583680" y="502920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استبعاد تام لحملات السوشيال الممولة لتوفير تكلفة الإعلانات ومصاريف إنتاج المحتوى البالغة 15k شهرياً.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1520" y="1828800"/>
            <a:ext cx="5212080" cy="438912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25400">
            <a:solidFill>
              <a:srgbClr val="1B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0116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🔄 المزيج البيعي المستهدف (Channel Mix)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05840" y="2560320"/>
            <a:ext cx="4663440" cy="1645920"/>
          </a:xfrm>
          <a:prstGeom prst="roundRect">
            <a:avLst>
              <a:gd name="adj" fmla="val 5556"/>
            </a:avLst>
          </a:prstGeom>
          <a:solidFill>
            <a:srgbClr val="F7F2E8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27432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C9873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70% حجز مباشر عبر موقع الفندق وجوجل ماب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097280" y="320040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القناة الرئيسية الأكثر ربحية — عمولة 0% وتواصل مباشر مع النزلاء لتقديم خدمات إضافية وجولات سياحية.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005840" y="4389120"/>
            <a:ext cx="4663440" cy="1554480"/>
          </a:xfrm>
          <a:prstGeom prst="roundRect">
            <a:avLst>
              <a:gd name="adj" fmla="val 5882"/>
            </a:avLst>
          </a:prstGeom>
          <a:solidFill>
            <a:srgbClr val="F1F5F9"/>
          </a:solidFill>
          <a:ln/>
        </p:spPr>
      </p:sp>
      <p:sp>
        <p:nvSpPr>
          <p:cNvPr id="21" name="Text 19"/>
          <p:cNvSpPr/>
          <p:nvPr/>
        </p:nvSpPr>
        <p:spPr>
          <a:xfrm>
            <a:off x="1097280" y="45720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B3A5C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30% قنوات مكملة مساندة (Agoda &amp; Airbnb)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097280" y="502920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الحفاظ على التواجد لسد أي فجوات إشغال في أيام منتصف الأسبوع وبناء تقييمات دولية إضافية.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011680" cy="320040"/>
          </a:xfrm>
          <a:prstGeom prst="roundRect">
            <a:avLst>
              <a:gd name="adj" fmla="val 28571"/>
            </a:avLst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AA85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الخاتمة والقرارات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B1B2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التوصيات النهائية وخريطة الطريق التنفيذية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القرارات الإستراتيجية الثلاثة لتحقيق أقصى ربحية تشغيلية لفندق هينو الأهرامات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828800"/>
            <a:ext cx="3474720" cy="438912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25400">
            <a:solidFill>
              <a:srgbClr val="C987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1031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🚀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914400" y="27432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B2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1. إطلاق موقع الحجز المباشر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329184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الاعتماد على موقع الفندق الإلكتروني كبوابة الحجز الأساسية مع دعم كامل للغات، العملات، وربط نظام الحجز السريع والدفع عند الوصول / فيزا.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4400" y="5120640"/>
            <a:ext cx="3108960" cy="822960"/>
          </a:xfrm>
          <a:prstGeom prst="roundRect">
            <a:avLst>
              <a:gd name="adj" fmla="val 11111"/>
            </a:avLst>
          </a:prstGeom>
          <a:solidFill>
            <a:srgbClr val="F7F2E8"/>
          </a:solidFill>
          <a:ln w="12700">
            <a:solidFill>
              <a:srgbClr val="C987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52120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B2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استثمار 25,000 جـ — استرداد كامل في أقل من 4 أيام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43400" y="1828800"/>
            <a:ext cx="3474720" cy="438912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25400">
            <a:solidFill>
              <a:srgbClr val="1B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43400" y="21031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🎯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526280" y="27432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B2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2. تركيز ميزانية إعلانات جوجل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17720" y="329184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تخصيص 100% من الميزانية الإعلانية (15,000 جـ/شهرياً) لحملات Google Maps Local Search Ads لاستهداف السياح في منطقة الهرم مباشرة.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26280" y="5120640"/>
            <a:ext cx="3108960" cy="822960"/>
          </a:xfrm>
          <a:prstGeom prst="roundRect">
            <a:avLst>
              <a:gd name="adj" fmla="val 11111"/>
            </a:avLst>
          </a:prstGeom>
          <a:solidFill>
            <a:srgbClr val="F7F2E8"/>
          </a:solidFill>
          <a:ln w="12700">
            <a:solidFill>
              <a:srgbClr val="C987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52120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B2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عائد إعلاني متوقع (ROAS) يصل لـ 1 : 60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955280" y="1828800"/>
            <a:ext cx="3474720" cy="438912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0" y="21031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🔄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8138160" y="27432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B2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3. تحسين مزيج القنوات البيعية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229600" y="329184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الإبقاء على Agoda و Airbnb كقنوات مكملة مساندة فقط بنسبة 30% من الإشغال، واستبعاد إعلانات فيسبوك وإنستجرام تماماً لتوفير ميزانية الإنتاج والتسويق.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138160" y="5120640"/>
            <a:ext cx="3108960" cy="822960"/>
          </a:xfrm>
          <a:prstGeom prst="roundRect">
            <a:avLst>
              <a:gd name="adj" fmla="val 11111"/>
            </a:avLst>
          </a:prstGeom>
          <a:solidFill>
            <a:srgbClr val="F7F2E8"/>
          </a:solidFill>
          <a:ln w="12700">
            <a:solidFill>
              <a:srgbClr val="C987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83880" y="52120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B2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توفير مصاريف إنتاج المحتوى (15k/شهر) + وفر حتى 225k/شهر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HENU Hotel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دراسة الجدوى والخطة التسويقية الإستراتيجية — فندق هينو الأهرامات</dc:title>
  <dc:subject>PptxGenJS Presentation</dc:subject>
  <dc:creator>HENU Hotel Pyramids</dc:creator>
  <cp:lastModifiedBy>HENU Hotel Pyramids</cp:lastModifiedBy>
  <cp:revision>1</cp:revision>
  <dcterms:created xsi:type="dcterms:W3CDTF">2026-08-27T12:04:40Z</dcterms:created>
  <dcterms:modified xsi:type="dcterms:W3CDTF">2026-08-27T12:04:40Z</dcterms:modified>
</cp:coreProperties>
</file>
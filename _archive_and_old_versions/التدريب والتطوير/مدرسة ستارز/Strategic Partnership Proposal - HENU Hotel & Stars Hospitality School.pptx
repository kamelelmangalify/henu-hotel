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044154"/>
            <a:ext cx="2895600" cy="485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85775"/>
            <a:ext cx="11029950" cy="5886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5327" y="2768054"/>
            <a:ext cx="10761345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b="0" sz="4050" i="0" u="none">
                <a:solidFill>
                  <a:srgbClr val="FFFFFF"/>
                </a:solidFill>
                <a:latin typeface="Cairo ExtraBold"/>
              </a:rPr>
              <a:t>مشروع تدريب وتأهيل طلاب </a:t>
            </a:r>
            <a:r>
              <a:rPr b="0" sz="4050" i="0" u="none">
                <a:solidFill>
                  <a:srgbClr val="F59E0B"/>
                </a:solidFill>
                <a:latin typeface="Cairo ExtraBold"/>
              </a:rPr>
              <a:t>مدرسة ستارز الفندقية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2200" y="4192934"/>
            <a:ext cx="74676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Cairo"/>
              </a:rPr>
              <a:t>رؤية عمل مشتركة ومباشرة مع فندق HENU لإعداد جيل جديد واعد ومتميز لقطاع الضيافة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206079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12590"/>
            <a:ext cx="11029950" cy="3752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2265015"/>
            <a:ext cx="428625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00700" y="2631727"/>
            <a:ext cx="594074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59E0B"/>
                </a:solidFill>
                <a:latin typeface="Cairo"/>
              </a:rPr>
              <a:t>يداً بيد لبناء مستقبل الضيافة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700" y="3346102"/>
            <a:ext cx="56578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b="0" sz="1500" i="0" u="none">
                <a:solidFill>
                  <a:srgbClr val="E2E8F0"/>
                </a:solidFill>
                <a:latin typeface="Cairo"/>
              </a:rPr>
              <a:t>نضع بين أيدي إدارة **مدرسة ستارز الفندقية** هذا المقترح ليكون بداية لشراكة ميدانية حقيقية ومثمرة، نجمع فيها بين خبرتنا التشغيلية في **فندق HENU** والتميز التعليمي لمدرستكم الموقرة.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7550" y="4508152"/>
            <a:ext cx="4191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59E0B"/>
                </a:solidFill>
                <a:latin typeface="Cairo"/>
              </a:rPr>
              <a:t>+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2274540"/>
            <a:ext cx="4267200" cy="3028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4575" y="4508152"/>
            <a:ext cx="1323975" cy="438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950" y="4508152"/>
            <a:ext cx="1943100" cy="438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4700" y="4651027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2100" y="4651027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تحالف الأيدي المتصافحة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(HENU × مدرسة ستارز)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7926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86500" y="2394644"/>
            <a:ext cx="5590698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59E0B"/>
                </a:solidFill>
                <a:latin typeface="Cairo"/>
              </a:rPr>
              <a:t>نموذج الفندق البوتيكي المثالي للتدريب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966144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Cairo"/>
              </a:rPr>
              <a:t>طاقة استيعابية مركزة (26 - 27 غرفة) تضمن الإشراف والمتابعة المباشرة لكل طالب.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657600"/>
            <a:ext cx="50863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Cairo"/>
              </a:rPr>
              <a:t>بيئة عمل حقيقية وفاخرة تضع طلاب **مدرسة ستارز** في قلب التشغيل اليومي.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349055"/>
            <a:ext cx="5086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Cairo"/>
              </a:rPr>
              <a:t>متابعة دقيقة وتدريب سلوكي ومهني تحت إشراف قادة الأقسام بالفندق.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766220"/>
            <a:ext cx="5086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Cairo"/>
              </a:rPr>
              <a:t>تقييم إنتاجية مستمر لصقل مهارات الطلاب وإعدادهم للمستقبل.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988790"/>
            <a:ext cx="53054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77625" y="2966144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59E0B"/>
                </a:solidFill>
                <a:latin typeface="Cairo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7625" y="3657600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59E0B"/>
                </a:solidFill>
                <a:latin typeface="Cairo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7625" y="4349055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59E0B"/>
                </a:solidFill>
                <a:latin typeface="Cairo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7625" y="4766220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59E0B"/>
                </a:solidFill>
                <a:latin typeface="Cairo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بيئة التدريب الميداني في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فندق HENU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124" y="2630834"/>
            <a:ext cx="3517850" cy="23163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149" y="2630834"/>
            <a:ext cx="3517850" cy="23163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73" y="2630834"/>
            <a:ext cx="3517850" cy="23163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400" y="2907059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1666" y="3669059"/>
            <a:ext cx="187023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Cairo"/>
              </a:rPr>
              <a:t>مكاسب طلاب ستارز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2199" y="4183409"/>
            <a:ext cx="30797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Cairo"/>
              </a:rPr>
              <a:t>تدريب عملي حقيقي، مكافأة شهرية تشجيعية، بناء CV قوي، وأولوية التعيين المباشر فور التخرج.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424" y="2907059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95669" y="3669059"/>
            <a:ext cx="20402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Cairo"/>
              </a:rPr>
              <a:t>مكاسب مدرسة ستارز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224" y="4183409"/>
            <a:ext cx="30797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Cairo"/>
              </a:rPr>
              <a:t>رفع القيمة التنافسية للمدرسة، دعاية وتسويق مجاني كجهة تربط التعليم بسوق العمل الفعلي.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449" y="2907059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19704" y="3669059"/>
            <a:ext cx="196024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Cairo"/>
              </a:rPr>
              <a:t>مكاسب فندق HENU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248" y="4183409"/>
            <a:ext cx="30797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Cairo"/>
              </a:rPr>
              <a:t>سد احتياجات التشغيل بعمالة شغوفة وشابة بتكلفة متوازنة، واختبار واحتفاظ بأفضل العناصر.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7087" y="3059459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7774" y="3059459"/>
            <a:ext cx="3048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0849" y="3059459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مثلث النجاح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(Value Proposition)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81" y="3769965"/>
            <a:ext cx="2426493" cy="127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712" y="3769965"/>
            <a:ext cx="2426493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942" y="3769965"/>
            <a:ext cx="2426493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173" y="3769965"/>
            <a:ext cx="2426493" cy="12763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2427" y="3960465"/>
            <a:ext cx="9927145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4353" y="2912715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583" y="2912715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8814" y="2912715"/>
            <a:ext cx="666750" cy="666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1045" y="2912715"/>
            <a:ext cx="666750" cy="666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3428" y="313179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83838" y="3969990"/>
            <a:ext cx="222777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F8FAFC"/>
                </a:solidFill>
                <a:latin typeface="Cairo"/>
              </a:rPr>
              <a:t>المرحلة الأولى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6881" y="4389090"/>
            <a:ext cx="2121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Cairo"/>
              </a:rPr>
              <a:t>تدوير استكشافي 9 أيام (3 أيام لكل قسم من الأقسام الثلاثة).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01371" y="3131790"/>
            <a:ext cx="25717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16069" y="3969990"/>
            <a:ext cx="222777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F8FAFC"/>
                </a:solidFill>
                <a:latin typeface="Cairo"/>
              </a:rPr>
              <a:t>المرحلة الثانية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112" y="4389090"/>
            <a:ext cx="2121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Cairo"/>
              </a:rPr>
              <a:t>تقييم شغف وميول طالب ستارز مع تقارير رؤساء الأقسام.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9314" y="3131790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48300" y="3969990"/>
            <a:ext cx="222777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F8FAFC"/>
                </a:solidFill>
                <a:latin typeface="Cairo"/>
              </a:rPr>
              <a:t>المرحلة الثالثة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1342" y="4389090"/>
            <a:ext cx="2121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Cairo"/>
              </a:rPr>
              <a:t>التثبيت والتخصص بالقسم الأنسب لباقي فترة التدريب (1-3 أشهر).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8695" y="3131790"/>
            <a:ext cx="17145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0531" y="3969990"/>
            <a:ext cx="222777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F8FAFC"/>
                </a:solidFill>
                <a:latin typeface="Cairo"/>
              </a:rPr>
              <a:t>المرحلة الرابعة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573" y="4389090"/>
            <a:ext cx="21216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Cairo"/>
              </a:rPr>
              <a:t>تقييم نهائي، توظيف المتميزين، وترشيح الباقين للفنادق الشريكة.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خطة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التدوير الاستكشافي والتخصص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124" y="2206972"/>
            <a:ext cx="3517850" cy="31640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149" y="2206972"/>
            <a:ext cx="3517850" cy="31640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73" y="2206972"/>
            <a:ext cx="3517850" cy="31640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5524" y="2359372"/>
            <a:ext cx="3213050" cy="1714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549" y="2359372"/>
            <a:ext cx="321305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573" y="2359372"/>
            <a:ext cx="321305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8262" y="4216747"/>
            <a:ext cx="25003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Cairo"/>
              </a:rPr>
              <a:t>1. الاستقبال (Front Office)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5524" y="4731097"/>
            <a:ext cx="32130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Cairo"/>
              </a:rPr>
              <a:t>إتقان مهارات استقبال الضيوف، التسجيل، التعامل مع الأنظمة الفندقية وحل المشكلات.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2279" y="4216747"/>
            <a:ext cx="256032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Cairo"/>
              </a:rPr>
              <a:t>2. الإشراف (Housekeeping)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549" y="4731097"/>
            <a:ext cx="32130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Cairo"/>
              </a:rPr>
              <a:t>تطبيق معايير النظافة العالمية، معايير تجهيز الغرف، والاهتمام بأدق تفاصيل الإقامة.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6320" y="4216747"/>
            <a:ext cx="243030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F8FAFC"/>
                </a:solidFill>
                <a:latin typeface="Cairo"/>
              </a:rPr>
              <a:t>3. المطعم والخدمة (F&amp;B)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573" y="4731097"/>
            <a:ext cx="32130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Cairo"/>
              </a:rPr>
              <a:t>قواعد الاتيكيت والخدمة، التعامل المباشر مع النزلاء، ورفع جودة تجربة الضيافة.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5049" y="2368897"/>
            <a:ext cx="3194000" cy="1695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9074" y="2368897"/>
            <a:ext cx="3194000" cy="1695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098" y="2368897"/>
            <a:ext cx="3194000" cy="1695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الأقسام التشغيلية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الثلاثة للتدريب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5805"/>
            <a:ext cx="11029950" cy="51664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025" y="4786312"/>
            <a:ext cx="6457950" cy="529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مقارنة كفاءة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النموذج التدريبي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114" y="2603152"/>
            <a:ext cx="4411860" cy="2371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99164" y="3003202"/>
            <a:ext cx="361176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F59E0B"/>
                </a:solidFill>
                <a:latin typeface="Cairo ExtraBold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99164" y="4146202"/>
            <a:ext cx="361176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8FAFC"/>
                </a:solidFill>
                <a:latin typeface="Cairo SemiBold"/>
              </a:rPr>
              <a:t>جاهزية احترافية لسوق العمل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480369"/>
            <a:ext cx="6448931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Cairo"/>
              </a:rPr>
              <a:t>نظام تصفية واحتفاظ حازم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166169"/>
            <a:ext cx="614183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Cairo"/>
              </a:rPr>
              <a:t>✦ </a:t>
            </a:r>
            <a:r>
              <a:rPr b="1" sz="1350" i="0" u="none">
                <a:solidFill>
                  <a:srgbClr val="CBD5E1"/>
                </a:solidFill>
                <a:latin typeface="Cairo"/>
              </a:rPr>
              <a:t>الاستبدال الفوري:</a:t>
            </a:r>
            <a:r>
              <a:rPr b="0" sz="1350" i="0" u="none">
                <a:solidFill>
                  <a:srgbClr val="CBD5E1"/>
                </a:solidFill>
                <a:latin typeface="Cairo"/>
              </a:rPr>
              <a:t> الطالب غير الجاد يتم استبداله فوراً لحفظ جودة الخدمة بالفندق وسُمعد المدرسة.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857625"/>
            <a:ext cx="614183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Cairo"/>
              </a:rPr>
              <a:t>✦ </a:t>
            </a:r>
            <a:r>
              <a:rPr b="1" sz="1350" i="0" u="none">
                <a:solidFill>
                  <a:srgbClr val="CBD5E1"/>
                </a:solidFill>
                <a:latin typeface="Cairo"/>
              </a:rPr>
              <a:t>الاحتفاظ بالمتميزين:</a:t>
            </a:r>
            <a:r>
              <a:rPr b="0" sz="1350" i="0" u="none">
                <a:solidFill>
                  <a:srgbClr val="CBD5E1"/>
                </a:solidFill>
                <a:latin typeface="Cairo"/>
              </a:rPr>
              <a:t> تقديم عقود عمل متميزة لطلاب مدرسة ستارز المتفوقين في HENU.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549080"/>
            <a:ext cx="6141839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Cairo"/>
              </a:rPr>
              <a:t>✦ </a:t>
            </a:r>
            <a:r>
              <a:rPr b="1" sz="1350" i="0" u="none">
                <a:solidFill>
                  <a:srgbClr val="CBD5E1"/>
                </a:solidFill>
                <a:latin typeface="Cairo"/>
              </a:rPr>
              <a:t>التقييم الأسبوعي:</a:t>
            </a:r>
            <a:r>
              <a:rPr b="0" sz="1350" i="0" u="none">
                <a:solidFill>
                  <a:srgbClr val="CBD5E1"/>
                </a:solidFill>
                <a:latin typeface="Cairo"/>
              </a:rPr>
              <a:t> نموذج تقييم مشترك يشارك فيه مشرف المدرسة مع رؤساء الأقسام.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ضبط الجودة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وإدارة الأداء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579489"/>
            <a:ext cx="11029950" cy="2419052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579489"/>
          <a:ext cx="11020422" cy="2419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31962"/>
                <a:gridCol w="1960661"/>
                <a:gridCol w="2740223"/>
                <a:gridCol w="2090588"/>
                <a:gridCol w="2096988"/>
              </a:tblGrid>
              <a:tr h="604763"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F59E0B"/>
                          </a:solidFill>
                          <a:latin typeface="Cairo"/>
                        </a:rPr>
                        <a:t>المرحلة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F59E0B"/>
                          </a:solidFill>
                          <a:latin typeface="Cairo"/>
                        </a:rPr>
                        <a:t>المدة الزمنية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F59E0B"/>
                          </a:solidFill>
                          <a:latin typeface="Cairo"/>
                        </a:rPr>
                        <a:t>المهام التشغيلية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F59E0B"/>
                          </a:solidFill>
                          <a:latin typeface="Cairo"/>
                        </a:rPr>
                        <a:t>نظام التقييم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F59E0B"/>
                          </a:solidFill>
                          <a:latin typeface="Cairo"/>
                        </a:rPr>
                        <a:t>المكافأة / الميزة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476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التدوير الاستكشافي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9 أيام (3 أيام/قسم)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استكشاف الأقسام الثلاثة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تقرير أسبوعي شامل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بدل انتقال/وجبات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476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التخصص الميداني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1 - 3 أشهر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العمل الفعلي المباشر بالقسم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KPIs شهرية + انضباط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مكافأة شهرية ثابتة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476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التوظيف والاحتفاظ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فور التخرج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استلام شفت كامل بالفندق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تقييم الأداء النهائي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Cairo"/>
                        </a:rPr>
                        <a:t>عقد عمل دائم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474249" y="3158579"/>
            <a:ext cx="2131962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13587" y="3158579"/>
            <a:ext cx="1960661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73364" y="3158579"/>
            <a:ext cx="2740223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82775" y="3158579"/>
            <a:ext cx="2090588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787" y="3158579"/>
            <a:ext cx="2096988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74249" y="3776662"/>
            <a:ext cx="21319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3587" y="3776662"/>
            <a:ext cx="19606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73364" y="3776662"/>
            <a:ext cx="27402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82775" y="3776662"/>
            <a:ext cx="209058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787" y="3776662"/>
            <a:ext cx="209698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74249" y="4380458"/>
            <a:ext cx="21319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13587" y="4380458"/>
            <a:ext cx="196066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73364" y="4380458"/>
            <a:ext cx="274022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82775" y="4380458"/>
            <a:ext cx="209058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787" y="4380458"/>
            <a:ext cx="209698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175" y="3339554"/>
            <a:ext cx="1181100" cy="28947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875" y="3943350"/>
            <a:ext cx="1295400" cy="28947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100" y="4547145"/>
            <a:ext cx="1019175" cy="2894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هيكل برنامج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التدريب والمكافآت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27470" y="485775"/>
            <a:ext cx="5040630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الرؤية التوسعية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المشتركة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9525"/>
            <a:ext cx="60864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0" y="2832794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Cairo"/>
              </a:rPr>
              <a:t>دورات تدريبية بالمدرسة:</a:t>
            </a:r>
            <a:r>
              <a:rPr b="0" sz="1350" i="0" u="none">
                <a:solidFill>
                  <a:srgbClr val="CBD5E1"/>
                </a:solidFill>
                <a:latin typeface="Cairo"/>
              </a:rPr>
              <a:t> تنظيم كورسات تدريبية للراغبين في دخول المجال السياحي من خارج المدرسة بمقر مدرسة ستارز.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3524250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Cairo"/>
              </a:rPr>
              <a:t>تزويد الفنادق بالعمالة (Outsourcing):</a:t>
            </a:r>
            <a:r>
              <a:rPr b="0" sz="1350" i="0" u="none">
                <a:solidFill>
                  <a:srgbClr val="CBD5E1"/>
                </a:solidFill>
                <a:latin typeface="Cairo"/>
              </a:rPr>
              <a:t> تدريب كوادر وتزويد الفنادق المجاورة بكوادر مدربة معتمدة منا.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4215705"/>
            <a:ext cx="49434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Cairo"/>
              </a:rPr>
              <a:t>تطوير المناهج:</a:t>
            </a:r>
            <a:r>
              <a:rPr b="0" sz="1350" i="0" u="none">
                <a:solidFill>
                  <a:srgbClr val="CBD5E1"/>
                </a:solidFill>
                <a:latin typeface="Cairo"/>
              </a:rPr>
              <a:t> نقل الممارسات الفندقية الحية لتطوير المنهج النظري بمدرسة ستارز.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0750" y="2741265"/>
            <a:ext cx="7810500" cy="1457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25"/>
              </a:lnSpc>
            </a:pPr>
            <a:r>
              <a:rPr b="1" sz="2550" i="0" u="none">
                <a:solidFill>
                  <a:srgbClr val="F8FAFC"/>
                </a:solidFill>
                <a:latin typeface="Cairo"/>
              </a:rPr>
              <a:t>الاستثمار في طلاب مدرسة ستارز الفندقية وتوفير بيئة عمل حقيقية لهم في فندق HENU هو الخطوة الأولى لصناعة ضيافة فاخرة ومستدامة.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5300" y="4484340"/>
            <a:ext cx="358140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59E0B"/>
                </a:solidFill>
                <a:latin typeface="Cairo SemiBold"/>
              </a:rPr>
              <a:t>— إدارة فندق HENU &amp; مدرسة ستارز الفندقية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67925" y="2265015"/>
            <a:ext cx="504825" cy="2143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0"/>
              </a:lnSpc>
            </a:pPr>
            <a:r>
              <a:rPr b="1" sz="9000" i="0" u="none">
                <a:solidFill>
                  <a:srgbClr val="D97706"/>
                </a:solidFill>
                <a:latin typeface="Cairo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رسالة </a:t>
            </a:r>
            <a:r>
              <a:rPr b="1" sz="2850" i="0" u="none">
                <a:solidFill>
                  <a:srgbClr val="F59E0B"/>
                </a:solidFill>
                <a:latin typeface="Cairo"/>
              </a:rPr>
              <a:t>المبادرة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2535435"/>
            <a:ext cx="474345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485775"/>
            <a:ext cx="1158144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Cairo"/>
              </a:rPr>
              <a:t>جاهزون للبدء؟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819275"/>
            <a:ext cx="110299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Cairo"/>
              </a:rPr>
              <a:t>دعونا نوقع مذكرة التفاهم (MoU) ونبدأ فوراً في استقبال الدفعة الأولى من طلاب مدرسة ستارز الفندقية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725" y="2887860"/>
            <a:ext cx="2667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725" y="355089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3445222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Cairo"/>
              </a:rPr>
              <a:t>https://www.ihgplc.com/~/media/Images/I/Ihg-Plc/images/news/2026/ihg-hotels-and-resorts-expands-luxury-and-lifestyle-footprint-in-egypt/ihg-hotels-and-resorts-expands-luxury-and-lifestyle-footprint-in-egypt.JPG?dl=1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889027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Cair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Cairo"/>
              </a:rPr>
              <a:t>www.ihgplc.com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71" y="485775"/>
            <a:ext cx="11431428" cy="434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420"/>
              </a:lnSpc>
            </a:pPr>
            <a:r>
              <a:rPr b="1" sz="2850" i="0" u="none">
                <a:solidFill>
                  <a:srgbClr val="F8FAFC"/>
                </a:solidFill>
                <a:latin typeface="Cairo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63350" y="485775"/>
            <a:ext cx="47625" cy="434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